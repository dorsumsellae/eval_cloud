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572000" cy="45720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PRATIQUE CLOUD FIL ROUGE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 documentaire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4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Hexagone — Mastère IA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512064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1B245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5440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1     </a:t>
            </a:r>
            <a:pPr indent="0" marL="0">
              <a:buNone/>
            </a:pP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/ RAG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2     </a:t>
            </a:r>
            <a:pPr indent="0" marL="0">
              <a:buNone/>
            </a:pP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Docs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objectif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petite application IA capable de répondre à des questions à partir d'un document fourni — le discours d'investiture de Barack Obama (2013), utilisé uniquement comme corpus de test.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468880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/ sélectionner le document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081528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035808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son contenu (embeddings)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3602736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Poser une question en langage naturel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215384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4169664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Obtenir une réponse générée à partir du document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4736592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Visualiser les passages utilisés comme sources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06640" y="1143000"/>
            <a:ext cx="4206240" cy="502920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809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680960" y="18288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L'assistant ne répond jamais « de mémoire ».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s'appuie uniquement sur les passages retrouvés dans le document.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l'information n'y est pas, il l'indique clairement plutôt que d'inventer une réponse.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qu'un RAG 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enrichir la réponse du LLM avec des passages extraits d'un document.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84248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courts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02736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0" name="Shape 8"/>
          <p:cNvSpPr/>
          <p:nvPr/>
        </p:nvSpPr>
        <p:spPr>
          <a:xfrm>
            <a:off x="3785616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785616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21224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04104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404104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vectorielle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39712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6" name="Shape 14"/>
          <p:cNvSpPr/>
          <p:nvPr/>
        </p:nvSpPr>
        <p:spPr>
          <a:xfrm>
            <a:off x="7022592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7022592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des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proches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58200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9" name="Shape 17"/>
          <p:cNvSpPr/>
          <p:nvPr/>
        </p:nvSpPr>
        <p:spPr>
          <a:xfrm>
            <a:off x="8641080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B85042"/>
          </a:solidFill>
          <a:ln/>
        </p:spPr>
      </p:sp>
      <p:sp>
        <p:nvSpPr>
          <p:cNvPr id="20" name="Text 18"/>
          <p:cNvSpPr/>
          <p:nvPr/>
        </p:nvSpPr>
        <p:spPr>
          <a:xfrm>
            <a:off x="864108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76688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59568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10259568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du LLM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sources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RAG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4617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répond à partir de ses connaissances internes : réponse fluide, mais pas forcément fondée sur VOS documents.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2648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RAG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4617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reçoit les passages pertinents dans son prompt : réponse fondée, sourcée, vérifiable.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système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892040" y="868680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94A3B8"/>
          </a:solidFill>
          <a:ln/>
        </p:spPr>
      </p:sp>
      <p:sp>
        <p:nvSpPr>
          <p:cNvPr id="4" name="Text 2"/>
          <p:cNvSpPr/>
          <p:nvPr/>
        </p:nvSpPr>
        <p:spPr>
          <a:xfrm>
            <a:off x="4892040" y="868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(utilisateur)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0" y="1344168"/>
            <a:ext cx="274320" cy="201168"/>
          </a:xfrm>
          <a:prstGeom prst="downArrow">
            <a:avLst/>
          </a:prstGeom>
          <a:solidFill>
            <a:srgbClr val="94A3B8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1572768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5727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port 8501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2167128"/>
            <a:ext cx="274320" cy="201168"/>
          </a:xfrm>
          <a:prstGeom prst="downArrow">
            <a:avLst/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709160" y="2395728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23957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— port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429000"/>
            <a:ext cx="2743200" cy="914400"/>
          </a:xfrm>
          <a:prstGeom prst="can">
            <a:avLst/>
          </a:prstGeom>
          <a:solidFill>
            <a:srgbClr val="21295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objet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(document brut)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3429000"/>
            <a:ext cx="2834640" cy="914400"/>
          </a:xfrm>
          <a:prstGeom prst="can">
            <a:avLst/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3520440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(embeddings)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12480" y="3429000"/>
            <a:ext cx="2834640" cy="9144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qwen2.5:0.5b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(LLM local)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962656"/>
            <a:ext cx="0" cy="28346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3246120"/>
            <a:ext cx="3886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3246120"/>
            <a:ext cx="37490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456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2980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4526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Versioning &amp; CI/CD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03120" y="4937760"/>
            <a:ext cx="2286000" cy="868680"/>
          </a:xfrm>
          <a:prstGeom prst="can">
            <a:avLst/>
          </a:prstGeom>
          <a:solidFill>
            <a:srgbClr val="5B5B5B"/>
          </a:solidFill>
          <a:ln/>
        </p:spPr>
      </p:sp>
      <p:sp>
        <p:nvSpPr>
          <p:cNvPr id="25" name="Text 23"/>
          <p:cNvSpPr/>
          <p:nvPr/>
        </p:nvSpPr>
        <p:spPr>
          <a:xfrm>
            <a:off x="2103120" y="5029200"/>
            <a:ext cx="22860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eval_cloud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(GitHub)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0" y="4956048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B85042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4956048"/>
            <a:ext cx="29260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(ci.yml)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434840" y="5285232"/>
            <a:ext cx="640080" cy="164592"/>
          </a:xfrm>
          <a:prstGeom prst="rightArrow">
            <a:avLst/>
          </a:prstGeom>
          <a:solidFill>
            <a:srgbClr val="191919"/>
          </a:solidFill>
          <a:ln/>
        </p:spPr>
      </p:sp>
      <p:sp>
        <p:nvSpPr>
          <p:cNvPr id="29" name="Text 27"/>
          <p:cNvSpPr/>
          <p:nvPr/>
        </p:nvSpPr>
        <p:spPr>
          <a:xfrm>
            <a:off x="4343400" y="5468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pull_request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8321040" y="5367528"/>
            <a:ext cx="1234440" cy="0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555480" y="2679192"/>
            <a:ext cx="0" cy="2688336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452360" y="2679192"/>
            <a:ext cx="2103120" cy="0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873252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et verifie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chaque push/PR : checkout du code (avec sous-modules), installation des dependances, tests unitaires, verification de l'import du backend.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: GitHub Codespaces · MinIO via Docker Compose · Chroma persiste sur disque · Ollama tourne en local (CPU)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technique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Environnement cloud de développement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Codespaces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utilisateur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Streamlit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Stockage du document brut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vectorielle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RAG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d'embeddings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sentence-transformers · paraphrase-multilingual-MiniLM-L12-v2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local léger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Ollama · qwen2.5:0.5b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Automatisation CI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 et remise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Indexation : découpage &amp; embeddings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chunk_size (caractères)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cible d'un passage. Fourchette conseillée : 700–900.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5196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25196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chunk_overlap (caractères)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Chevauchement entre deux passages, pour ne pas couper une idée. Fourchette conseillée : 100–150.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95528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95528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top_k (passages)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7532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passages récupérés par question. Suffisant sans diluer le contexte du LLM léger.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5029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splitting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88920" y="5029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Couper en respectant paragraphes → phrases → mots (RecursiveCharacterTextSplitter)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66760" y="50292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 de couper au milieu d'une phrase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d'embeddings : sentence-transformers/paraphrase-multilingual-MiniLM-L12-v2 — léger (~470 Mo), multilingue, tourne sur CPU.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→ Réponse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prompt envoyé au LLM impose une consigne stricte : répondre uniquement à partir du contexte fourni.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6126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es un assistant documentaire.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Réponds uniquement à partir du contexte fourni.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l'information n'est pas présente dans le contexte, réponds 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 Je ne trouve pas cette information dans le document fourni. »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Contexte 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{question}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Réponse 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0" y="160020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3-4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est transformée en embedding, puis comparée à tous les passages indexés pour retrouver les top_k plus proches.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379476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6384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5-6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63840" y="43434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(qwen2.5:0.5b) génère la réponse à partir du prompt. Les passages sources sont renvoyés avec leur score de similarité.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 : endpoints &amp; interface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234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20440" y="1234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l'API répond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0136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013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08760" y="18013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/upload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20440" y="18013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le document (MinIO ou repli local)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368296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3682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08760" y="23682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/index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3682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+ vectorise + indexe dans Chroma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352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29352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9352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+ génération + sources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502152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021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08760" y="35021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/reset-index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vide l'index vectoriel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1234440"/>
            <a:ext cx="4023360" cy="47091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utilisateur (Streamlit)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92024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1892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Sélectionner ou charger un document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0" y="252374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2104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« Indexer le document »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63840" y="312724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1040" y="30998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question exemple ou en taper une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730752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78638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2104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la réponse générée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863840" y="433425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21040" y="43068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Déplier les sources (extrait + score)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&amp; 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3 — automatisation &amp; qualité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 Request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15184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2770632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2770632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du code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(avec sous-modules)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37176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0" name="Shape 8"/>
          <p:cNvSpPr/>
          <p:nvPr/>
        </p:nvSpPr>
        <p:spPr>
          <a:xfrm>
            <a:off x="4992624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992624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deps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(backend/requirements.txt)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59168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3" name="Shape 11"/>
          <p:cNvSpPr/>
          <p:nvPr/>
        </p:nvSpPr>
        <p:spPr>
          <a:xfrm>
            <a:off x="7214616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214616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-v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16" name="Shape 14"/>
          <p:cNvSpPr/>
          <p:nvPr/>
        </p:nvSpPr>
        <p:spPr>
          <a:xfrm>
            <a:off x="9436608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9436608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Vérif. import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3464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du backend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unitaires vivent directement dans le sous-module backend (pytest.ini, tests/), maintenus par le développeur backend et exécutés via working-directory: backend dans la CI.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26480" y="2834640"/>
            <a:ext cx="5486400" cy="3108960"/>
          </a:xfrm>
          <a:prstGeom prst="roundRect">
            <a:avLst>
              <a:gd name="adj" fmla="val 2353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Sous-modules git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4747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 et frontend/ sont des sous-modules git (dépôts séparés). La CI utilise submodules: recursive au checkout pour en récupérer le vrai contenu, sinon ces dossiers apparaissent vides.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connues &amp; bonus réalisés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acceptées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2029968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65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parfois long (LLM léger, CPU)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877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imparfaite du petit modèle (0.5b paramètres)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3273552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20954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document à la fois dans la version de base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895344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3133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authentification, pas de monitoring avancé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517136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45312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déploiement production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F0FBF4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379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implémentés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37960" y="2029968"/>
            <a:ext cx="91440" cy="91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1965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 automatique sur stockage local si MinIO indisponible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651760"/>
            <a:ext cx="91440" cy="91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25877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de réinitialisation de l'index vectoriel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273552"/>
            <a:ext cx="91440" cy="91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32095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top_k réglable directement via l'API (/ask)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3895344"/>
            <a:ext cx="91440" cy="91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383133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similarité affiché pour chaque source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4517136"/>
            <a:ext cx="91440" cy="91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0" y="445312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de la CI aux sous-modules git (submodules: recursive)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114800"/>
            <a:ext cx="4114800" cy="41148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 RAG en une phrase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L'assistant répond à partir du document. S'il ne trouve pas l'information, il le dit clairement. »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questions 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Assistant documentaire - Lite RAG</dc:title>
  <dc:subject>PptxGenJS Presentation</dc:subject>
  <dc:creator>École Hexagone</dc:creator>
  <cp:lastModifiedBy>École Hexagone</cp:lastModifiedBy>
  <cp:revision>1</cp:revision>
  <dcterms:created xsi:type="dcterms:W3CDTF">2026-07-03T13:12:15Z</dcterms:created>
  <dcterms:modified xsi:type="dcterms:W3CDTF">2026-07-03T13:12:15Z</dcterms:modified>
</cp:coreProperties>
</file>