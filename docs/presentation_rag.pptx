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7C43F4-0E0E-4EF7-9E4D-7B555534C047}" v="5" dt="2026-07-03T13:24:10.9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MOUTON--BESSON" userId="8b5e56fff13e65f2" providerId="LiveId" clId="{81B8AACB-B7AC-480A-B9C2-B13A154DB984}"/>
    <pc:docChg chg="undo custSel modSld">
      <pc:chgData name="Nicolas MOUTON--BESSON" userId="8b5e56fff13e65f2" providerId="LiveId" clId="{81B8AACB-B7AC-480A-B9C2-B13A154DB984}" dt="2026-07-03T14:10:39.195" v="157" actId="20577"/>
      <pc:docMkLst>
        <pc:docMk/>
      </pc:docMkLst>
      <pc:sldChg chg="modSp mod">
        <pc:chgData name="Nicolas MOUTON--BESSON" userId="8b5e56fff13e65f2" providerId="LiveId" clId="{81B8AACB-B7AC-480A-B9C2-B13A154DB984}" dt="2026-07-03T13:19:43.911" v="29" actId="20577"/>
        <pc:sldMkLst>
          <pc:docMk/>
          <pc:sldMk cId="0" sldId="260"/>
        </pc:sldMkLst>
        <pc:graphicFrameChg chg="modGraphic">
          <ac:chgData name="Nicolas MOUTON--BESSON" userId="8b5e56fff13e65f2" providerId="LiveId" clId="{81B8AACB-B7AC-480A-B9C2-B13A154DB984}" dt="2026-07-03T13:19:43.911" v="29" actId="20577"/>
          <ac:graphicFrameMkLst>
            <pc:docMk/>
            <pc:sldMk cId="0" sldId="260"/>
            <ac:graphicFrameMk id="6" creationId="{00000000-0000-0000-0000-000000000000}"/>
          </ac:graphicFrameMkLst>
        </pc:graphicFrameChg>
      </pc:sldChg>
      <pc:sldChg chg="addSp delSp modSp mod">
        <pc:chgData name="Nicolas MOUTON--BESSON" userId="8b5e56fff13e65f2" providerId="LiveId" clId="{81B8AACB-B7AC-480A-B9C2-B13A154DB984}" dt="2026-07-03T14:10:39.195" v="157" actId="20577"/>
        <pc:sldMkLst>
          <pc:docMk/>
          <pc:sldMk cId="0" sldId="265"/>
        </pc:sldMkLst>
        <pc:spChg chg="mod">
          <ac:chgData name="Nicolas MOUTON--BESSON" userId="8b5e56fff13e65f2" providerId="LiveId" clId="{81B8AACB-B7AC-480A-B9C2-B13A154DB984}" dt="2026-07-03T13:20:49.411" v="44" actId="12789"/>
          <ac:spMkLst>
            <pc:docMk/>
            <pc:sldMk cId="0" sldId="265"/>
            <ac:spMk id="5" creationId="{00000000-0000-0000-0000-000000000000}"/>
          </ac:spMkLst>
        </pc:spChg>
        <pc:spChg chg="mod">
          <ac:chgData name="Nicolas MOUTON--BESSON" userId="8b5e56fff13e65f2" providerId="LiveId" clId="{81B8AACB-B7AC-480A-B9C2-B13A154DB984}" dt="2026-07-03T13:20:49.411" v="44" actId="12789"/>
          <ac:spMkLst>
            <pc:docMk/>
            <pc:sldMk cId="0" sldId="265"/>
            <ac:spMk id="6" creationId="{00000000-0000-0000-0000-000000000000}"/>
          </ac:spMkLst>
        </pc:spChg>
        <pc:spChg chg="mod">
          <ac:chgData name="Nicolas MOUTON--BESSON" userId="8b5e56fff13e65f2" providerId="LiveId" clId="{81B8AACB-B7AC-480A-B9C2-B13A154DB984}" dt="2026-07-03T13:20:54.762" v="45" actId="12789"/>
          <ac:spMkLst>
            <pc:docMk/>
            <pc:sldMk cId="0" sldId="265"/>
            <ac:spMk id="7" creationId="{00000000-0000-0000-0000-000000000000}"/>
          </ac:spMkLst>
        </pc:spChg>
        <pc:spChg chg="mod">
          <ac:chgData name="Nicolas MOUTON--BESSON" userId="8b5e56fff13e65f2" providerId="LiveId" clId="{81B8AACB-B7AC-480A-B9C2-B13A154DB984}" dt="2026-07-03T13:20:54.762" v="45" actId="12789"/>
          <ac:spMkLst>
            <pc:docMk/>
            <pc:sldMk cId="0" sldId="265"/>
            <ac:spMk id="8" creationId="{00000000-0000-0000-0000-000000000000}"/>
          </ac:spMkLst>
        </pc:spChg>
        <pc:spChg chg="mod">
          <ac:chgData name="Nicolas MOUTON--BESSON" userId="8b5e56fff13e65f2" providerId="LiveId" clId="{81B8AACB-B7AC-480A-B9C2-B13A154DB984}" dt="2026-07-03T13:20:59.288" v="46" actId="12789"/>
          <ac:spMkLst>
            <pc:docMk/>
            <pc:sldMk cId="0" sldId="265"/>
            <ac:spMk id="9" creationId="{00000000-0000-0000-0000-000000000000}"/>
          </ac:spMkLst>
        </pc:spChg>
        <pc:spChg chg="mod">
          <ac:chgData name="Nicolas MOUTON--BESSON" userId="8b5e56fff13e65f2" providerId="LiveId" clId="{81B8AACB-B7AC-480A-B9C2-B13A154DB984}" dt="2026-07-03T14:10:39.195" v="157" actId="20577"/>
          <ac:spMkLst>
            <pc:docMk/>
            <pc:sldMk cId="0" sldId="265"/>
            <ac:spMk id="10" creationId="{00000000-0000-0000-0000-000000000000}"/>
          </ac:spMkLst>
        </pc:spChg>
        <pc:spChg chg="mod">
          <ac:chgData name="Nicolas MOUTON--BESSON" userId="8b5e56fff13e65f2" providerId="LiveId" clId="{81B8AACB-B7AC-480A-B9C2-B13A154DB984}" dt="2026-07-03T13:21:02.744" v="47" actId="12789"/>
          <ac:spMkLst>
            <pc:docMk/>
            <pc:sldMk cId="0" sldId="265"/>
            <ac:spMk id="11" creationId="{00000000-0000-0000-0000-000000000000}"/>
          </ac:spMkLst>
        </pc:spChg>
        <pc:spChg chg="mod">
          <ac:chgData name="Nicolas MOUTON--BESSON" userId="8b5e56fff13e65f2" providerId="LiveId" clId="{81B8AACB-B7AC-480A-B9C2-B13A154DB984}" dt="2026-07-03T13:21:02.744" v="47" actId="12789"/>
          <ac:spMkLst>
            <pc:docMk/>
            <pc:sldMk cId="0" sldId="265"/>
            <ac:spMk id="12" creationId="{00000000-0000-0000-0000-000000000000}"/>
          </ac:spMkLst>
        </pc:spChg>
        <pc:spChg chg="mod">
          <ac:chgData name="Nicolas MOUTON--BESSON" userId="8b5e56fff13e65f2" providerId="LiveId" clId="{81B8AACB-B7AC-480A-B9C2-B13A154DB984}" dt="2026-07-03T13:21:07.783" v="48" actId="12789"/>
          <ac:spMkLst>
            <pc:docMk/>
            <pc:sldMk cId="0" sldId="265"/>
            <ac:spMk id="13" creationId="{00000000-0000-0000-0000-000000000000}"/>
          </ac:spMkLst>
        </pc:spChg>
        <pc:spChg chg="mod">
          <ac:chgData name="Nicolas MOUTON--BESSON" userId="8b5e56fff13e65f2" providerId="LiveId" clId="{81B8AACB-B7AC-480A-B9C2-B13A154DB984}" dt="2026-07-03T13:21:07.783" v="48" actId="12789"/>
          <ac:spMkLst>
            <pc:docMk/>
            <pc:sldMk cId="0" sldId="265"/>
            <ac:spMk id="14" creationId="{00000000-0000-0000-0000-000000000000}"/>
          </ac:spMkLst>
        </pc:spChg>
        <pc:spChg chg="mod">
          <ac:chgData name="Nicolas MOUTON--BESSON" userId="8b5e56fff13e65f2" providerId="LiveId" clId="{81B8AACB-B7AC-480A-B9C2-B13A154DB984}" dt="2026-07-03T13:24:40.088" v="154" actId="1076"/>
          <ac:spMkLst>
            <pc:docMk/>
            <pc:sldMk cId="0" sldId="265"/>
            <ac:spMk id="15" creationId="{00000000-0000-0000-0000-000000000000}"/>
          </ac:spMkLst>
        </pc:spChg>
        <pc:spChg chg="del">
          <ac:chgData name="Nicolas MOUTON--BESSON" userId="8b5e56fff13e65f2" providerId="LiveId" clId="{81B8AACB-B7AC-480A-B9C2-B13A154DB984}" dt="2026-07-03T13:21:23.705" v="50" actId="478"/>
          <ac:spMkLst>
            <pc:docMk/>
            <pc:sldMk cId="0" sldId="265"/>
            <ac:spMk id="17" creationId="{00000000-0000-0000-0000-000000000000}"/>
          </ac:spMkLst>
        </pc:spChg>
        <pc:spChg chg="del">
          <ac:chgData name="Nicolas MOUTON--BESSON" userId="8b5e56fff13e65f2" providerId="LiveId" clId="{81B8AACB-B7AC-480A-B9C2-B13A154DB984}" dt="2026-07-03T13:21:21.301" v="49" actId="478"/>
          <ac:spMkLst>
            <pc:docMk/>
            <pc:sldMk cId="0" sldId="265"/>
            <ac:spMk id="18" creationId="{00000000-0000-0000-0000-000000000000}"/>
          </ac:spMkLst>
        </pc:spChg>
        <pc:spChg chg="mod">
          <ac:chgData name="Nicolas MOUTON--BESSON" userId="8b5e56fff13e65f2" providerId="LiveId" clId="{81B8AACB-B7AC-480A-B9C2-B13A154DB984}" dt="2026-07-03T13:23:16.617" v="75" actId="164"/>
          <ac:spMkLst>
            <pc:docMk/>
            <pc:sldMk cId="0" sldId="265"/>
            <ac:spMk id="19" creationId="{00000000-0000-0000-0000-000000000000}"/>
          </ac:spMkLst>
        </pc:spChg>
        <pc:spChg chg="mod">
          <ac:chgData name="Nicolas MOUTON--BESSON" userId="8b5e56fff13e65f2" providerId="LiveId" clId="{81B8AACB-B7AC-480A-B9C2-B13A154DB984}" dt="2026-07-03T13:23:16.617" v="75" actId="164"/>
          <ac:spMkLst>
            <pc:docMk/>
            <pc:sldMk cId="0" sldId="265"/>
            <ac:spMk id="20" creationId="{00000000-0000-0000-0000-000000000000}"/>
          </ac:spMkLst>
        </pc:spChg>
        <pc:spChg chg="del">
          <ac:chgData name="Nicolas MOUTON--BESSON" userId="8b5e56fff13e65f2" providerId="LiveId" clId="{81B8AACB-B7AC-480A-B9C2-B13A154DB984}" dt="2026-07-03T13:21:34.690" v="54" actId="478"/>
          <ac:spMkLst>
            <pc:docMk/>
            <pc:sldMk cId="0" sldId="265"/>
            <ac:spMk id="21" creationId="{00000000-0000-0000-0000-000000000000}"/>
          </ac:spMkLst>
        </pc:spChg>
        <pc:spChg chg="del">
          <ac:chgData name="Nicolas MOUTON--BESSON" userId="8b5e56fff13e65f2" providerId="LiveId" clId="{81B8AACB-B7AC-480A-B9C2-B13A154DB984}" dt="2026-07-03T13:21:33.850" v="53" actId="478"/>
          <ac:spMkLst>
            <pc:docMk/>
            <pc:sldMk cId="0" sldId="265"/>
            <ac:spMk id="22" creationId="{00000000-0000-0000-0000-000000000000}"/>
          </ac:spMkLst>
        </pc:spChg>
        <pc:spChg chg="mod">
          <ac:chgData name="Nicolas MOUTON--BESSON" userId="8b5e56fff13e65f2" providerId="LiveId" clId="{81B8AACB-B7AC-480A-B9C2-B13A154DB984}" dt="2026-07-03T13:23:20.539" v="76" actId="164"/>
          <ac:spMkLst>
            <pc:docMk/>
            <pc:sldMk cId="0" sldId="265"/>
            <ac:spMk id="23" creationId="{00000000-0000-0000-0000-000000000000}"/>
          </ac:spMkLst>
        </pc:spChg>
        <pc:spChg chg="mod ord">
          <ac:chgData name="Nicolas MOUTON--BESSON" userId="8b5e56fff13e65f2" providerId="LiveId" clId="{81B8AACB-B7AC-480A-B9C2-B13A154DB984}" dt="2026-07-03T13:23:20.539" v="76" actId="164"/>
          <ac:spMkLst>
            <pc:docMk/>
            <pc:sldMk cId="0" sldId="265"/>
            <ac:spMk id="24" creationId="{00000000-0000-0000-0000-000000000000}"/>
          </ac:spMkLst>
        </pc:spChg>
        <pc:spChg chg="mod">
          <ac:chgData name="Nicolas MOUTON--BESSON" userId="8b5e56fff13e65f2" providerId="LiveId" clId="{81B8AACB-B7AC-480A-B9C2-B13A154DB984}" dt="2026-07-03T13:23:25.432" v="77" actId="164"/>
          <ac:spMkLst>
            <pc:docMk/>
            <pc:sldMk cId="0" sldId="265"/>
            <ac:spMk id="25" creationId="{00000000-0000-0000-0000-000000000000}"/>
          </ac:spMkLst>
        </pc:spChg>
        <pc:spChg chg="mod">
          <ac:chgData name="Nicolas MOUTON--BESSON" userId="8b5e56fff13e65f2" providerId="LiveId" clId="{81B8AACB-B7AC-480A-B9C2-B13A154DB984}" dt="2026-07-03T13:23:25.432" v="77" actId="164"/>
          <ac:spMkLst>
            <pc:docMk/>
            <pc:sldMk cId="0" sldId="265"/>
            <ac:spMk id="26" creationId="{00000000-0000-0000-0000-000000000000}"/>
          </ac:spMkLst>
        </pc:spChg>
        <pc:spChg chg="mod">
          <ac:chgData name="Nicolas MOUTON--BESSON" userId="8b5e56fff13e65f2" providerId="LiveId" clId="{81B8AACB-B7AC-480A-B9C2-B13A154DB984}" dt="2026-07-03T13:23:29.932" v="78"/>
          <ac:spMkLst>
            <pc:docMk/>
            <pc:sldMk cId="0" sldId="265"/>
            <ac:spMk id="31" creationId="{1438436C-42ED-1FC2-FA57-5DDF669052F2}"/>
          </ac:spMkLst>
        </pc:spChg>
        <pc:spChg chg="mod">
          <ac:chgData name="Nicolas MOUTON--BESSON" userId="8b5e56fff13e65f2" providerId="LiveId" clId="{81B8AACB-B7AC-480A-B9C2-B13A154DB984}" dt="2026-07-03T13:23:59.890" v="112" actId="20577"/>
          <ac:spMkLst>
            <pc:docMk/>
            <pc:sldMk cId="0" sldId="265"/>
            <ac:spMk id="32" creationId="{E4E47C96-C00C-1C6B-5B45-B4A49F72946F}"/>
          </ac:spMkLst>
        </pc:spChg>
        <pc:spChg chg="mod">
          <ac:chgData name="Nicolas MOUTON--BESSON" userId="8b5e56fff13e65f2" providerId="LiveId" clId="{81B8AACB-B7AC-480A-B9C2-B13A154DB984}" dt="2026-07-03T13:24:10.967" v="113"/>
          <ac:spMkLst>
            <pc:docMk/>
            <pc:sldMk cId="0" sldId="265"/>
            <ac:spMk id="34" creationId="{E712F487-E986-06CB-BAA9-198A2C7DDC71}"/>
          </ac:spMkLst>
        </pc:spChg>
        <pc:spChg chg="mod">
          <ac:chgData name="Nicolas MOUTON--BESSON" userId="8b5e56fff13e65f2" providerId="LiveId" clId="{81B8AACB-B7AC-480A-B9C2-B13A154DB984}" dt="2026-07-03T13:24:35.523" v="153" actId="313"/>
          <ac:spMkLst>
            <pc:docMk/>
            <pc:sldMk cId="0" sldId="265"/>
            <ac:spMk id="35" creationId="{B822D272-2A8F-CC90-2EFF-10C67D1BBBBB}"/>
          </ac:spMkLst>
        </pc:spChg>
        <pc:grpChg chg="add mod">
          <ac:chgData name="Nicolas MOUTON--BESSON" userId="8b5e56fff13e65f2" providerId="LiveId" clId="{81B8AACB-B7AC-480A-B9C2-B13A154DB984}" dt="2026-07-03T13:23:16.617" v="75" actId="164"/>
          <ac:grpSpMkLst>
            <pc:docMk/>
            <pc:sldMk cId="0" sldId="265"/>
            <ac:grpSpMk id="27" creationId="{1C14EDC7-FA76-649A-A0B8-B0330D2F5418}"/>
          </ac:grpSpMkLst>
        </pc:grpChg>
        <pc:grpChg chg="add mod">
          <ac:chgData name="Nicolas MOUTON--BESSON" userId="8b5e56fff13e65f2" providerId="LiveId" clId="{81B8AACB-B7AC-480A-B9C2-B13A154DB984}" dt="2026-07-03T13:23:20.539" v="76" actId="164"/>
          <ac:grpSpMkLst>
            <pc:docMk/>
            <pc:sldMk cId="0" sldId="265"/>
            <ac:grpSpMk id="28" creationId="{2281984D-7EB4-3F76-9F22-E78CB6BA6BB7}"/>
          </ac:grpSpMkLst>
        </pc:grpChg>
        <pc:grpChg chg="add mod">
          <ac:chgData name="Nicolas MOUTON--BESSON" userId="8b5e56fff13e65f2" providerId="LiveId" clId="{81B8AACB-B7AC-480A-B9C2-B13A154DB984}" dt="2026-07-03T13:23:25.432" v="77" actId="164"/>
          <ac:grpSpMkLst>
            <pc:docMk/>
            <pc:sldMk cId="0" sldId="265"/>
            <ac:grpSpMk id="29" creationId="{CC9A9DA9-8278-C606-ABEC-3403FCC31DD6}"/>
          </ac:grpSpMkLst>
        </pc:grpChg>
        <pc:grpChg chg="add mod">
          <ac:chgData name="Nicolas MOUTON--BESSON" userId="8b5e56fff13e65f2" providerId="LiveId" clId="{81B8AACB-B7AC-480A-B9C2-B13A154DB984}" dt="2026-07-03T13:23:50.106" v="83" actId="1076"/>
          <ac:grpSpMkLst>
            <pc:docMk/>
            <pc:sldMk cId="0" sldId="265"/>
            <ac:grpSpMk id="30" creationId="{25D8AB05-78FB-F3F5-76ED-8DDFF558D0A3}"/>
          </ac:grpSpMkLst>
        </pc:grpChg>
        <pc:grpChg chg="add mod">
          <ac:chgData name="Nicolas MOUTON--BESSON" userId="8b5e56fff13e65f2" providerId="LiveId" clId="{81B8AACB-B7AC-480A-B9C2-B13A154DB984}" dt="2026-07-03T13:24:18.105" v="116" actId="1076"/>
          <ac:grpSpMkLst>
            <pc:docMk/>
            <pc:sldMk cId="0" sldId="265"/>
            <ac:grpSpMk id="33" creationId="{2012FA5B-0E36-EC0D-8E3F-63AFA3E2011F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5868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572000" cy="4572000"/>
          </a:xfrm>
          <a:prstGeom prst="ellipse">
            <a:avLst/>
          </a:prstGeom>
          <a:solidFill>
            <a:srgbClr val="065A82">
              <a:alpha val="4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9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 PRATIQUE CLOUD FIL ROUGE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Assistant documentaire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9FD4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 </a:t>
            </a: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École Hexagone — Mastère IA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5120640"/>
            <a:ext cx="10698480" cy="1051560"/>
          </a:xfrm>
          <a:prstGeom prst="roundRect">
            <a:avLst>
              <a:gd name="adj" fmla="val 6957"/>
            </a:avLst>
          </a:prstGeom>
          <a:solidFill>
            <a:srgbClr val="1B2450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1005840" y="544068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1     </a:t>
            </a:r>
            <a:r>
              <a:rPr lang="en-US" sz="1300" b="1" dirty="0">
                <a:solidFill>
                  <a:srgbClr val="9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/ RAG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2     </a:t>
            </a:r>
            <a:r>
              <a:rPr lang="en-US" sz="1300" b="1" dirty="0">
                <a:solidFill>
                  <a:srgbClr val="9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&amp; Docs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3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&amp; objectif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6492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Construire une petite application IA capable de répondre à des questions à partir d'un document fourni — le discours d'investiture de Barack Obama (2013), utilisé uniquement comme corpus de test.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51560" y="2468880"/>
            <a:ext cx="5852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 / sélectionner le document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081528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548640" y="3081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3035808"/>
            <a:ext cx="5852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 son contenu (embeddings)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648456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548640" y="3648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3602736"/>
            <a:ext cx="5852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Poser une question en langage naturel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215384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548640" y="4215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4169664"/>
            <a:ext cx="5852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Obtenir une réponse générée à partir du document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782312"/>
            <a:ext cx="329184" cy="32918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548640" y="4782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4736592"/>
            <a:ext cx="5852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Visualiser les passages utilisés comme sources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406640" y="1143000"/>
            <a:ext cx="4206240" cy="502920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768096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d'or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680960" y="1828800"/>
            <a:ext cx="3657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L'assistant ne répond jamais « de mémoire ».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s'appuie uniquement sur les passages retrouvés dans le document.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l'information n'y est pas, il l'indique clairement plutôt que d'inventer une réponse.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Qu'est-ce qu'un RAG 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 — enrichir la réponse du LLM avec des passages extraits d'un document.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1417320" cy="1188720"/>
          </a:xfrm>
          <a:prstGeom prst="roundRect">
            <a:avLst>
              <a:gd name="adj" fmla="val 4615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1417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984248" y="2889504"/>
            <a:ext cx="164592" cy="164592"/>
          </a:xfrm>
          <a:prstGeom prst="rightArrow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167128" y="2377440"/>
            <a:ext cx="1417320" cy="1188720"/>
          </a:xfrm>
          <a:prstGeom prst="roundRect">
            <a:avLst>
              <a:gd name="adj" fmla="val 4615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167128" y="2377440"/>
            <a:ext cx="1417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Découpage en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passages courts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02736" y="2889504"/>
            <a:ext cx="164592" cy="164592"/>
          </a:xfrm>
          <a:prstGeom prst="rightArrow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3785616" y="2377440"/>
            <a:ext cx="1417320" cy="1188720"/>
          </a:xfrm>
          <a:prstGeom prst="roundRect">
            <a:avLst>
              <a:gd name="adj" fmla="val 4615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785616" y="2377440"/>
            <a:ext cx="1417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des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221224" y="2889504"/>
            <a:ext cx="164592" cy="164592"/>
          </a:xfrm>
          <a:prstGeom prst="rightArrow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5404104" y="2377440"/>
            <a:ext cx="1417320" cy="1188720"/>
          </a:xfrm>
          <a:prstGeom prst="roundRect">
            <a:avLst>
              <a:gd name="adj" fmla="val 4615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5404104" y="2377440"/>
            <a:ext cx="1417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vectorielle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39712" y="2889504"/>
            <a:ext cx="164592" cy="164592"/>
          </a:xfrm>
          <a:prstGeom prst="rightArrow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7022592" y="2377440"/>
            <a:ext cx="1417320" cy="1188720"/>
          </a:xfrm>
          <a:prstGeom prst="roundRect">
            <a:avLst>
              <a:gd name="adj" fmla="val 4615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7022592" y="2377440"/>
            <a:ext cx="1417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des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passages proches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458200" y="2889504"/>
            <a:ext cx="164592" cy="164592"/>
          </a:xfrm>
          <a:prstGeom prst="rightArrow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8641080" y="2377440"/>
            <a:ext cx="1417320" cy="1188720"/>
          </a:xfrm>
          <a:prstGeom prst="roundRect">
            <a:avLst>
              <a:gd name="adj" fmla="val 4615"/>
            </a:avLst>
          </a:prstGeom>
          <a:solidFill>
            <a:srgbClr val="B850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8641080" y="2377440"/>
            <a:ext cx="1417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076688" y="2889504"/>
            <a:ext cx="164592" cy="164592"/>
          </a:xfrm>
          <a:prstGeom prst="rightArrow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10259568" y="2377440"/>
            <a:ext cx="1417320" cy="1188720"/>
          </a:xfrm>
          <a:prstGeom prst="roundRect">
            <a:avLst>
              <a:gd name="adj" fmla="val 4615"/>
            </a:avLst>
          </a:prstGeom>
          <a:solidFill>
            <a:srgbClr val="2C5F2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10259568" y="2377440"/>
            <a:ext cx="1417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du LLM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sources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114800"/>
            <a:ext cx="10972800" cy="1737360"/>
          </a:xfrm>
          <a:prstGeom prst="roundRect">
            <a:avLst>
              <a:gd name="adj" fmla="val 4211"/>
            </a:avLst>
          </a:prstGeom>
          <a:solidFill>
            <a:srgbClr val="FDF2F1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868680" y="42976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RAG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68680" y="461772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répond à partir de ses connaissances internes : réponse fluide, mais pas forcément fondée sur VOS documents.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126480" y="42976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RAG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26480" y="461772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reçoit les passages pertinents dans son prompt : réponse fondée, sourcée, vérifiable.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système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892040" y="868680"/>
            <a:ext cx="2377440" cy="457200"/>
          </a:xfrm>
          <a:prstGeom prst="roundRect">
            <a:avLst>
              <a:gd name="adj" fmla="val 12000"/>
            </a:avLst>
          </a:prstGeom>
          <a:solidFill>
            <a:srgbClr val="94A3B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892040" y="868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(utilisateur)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943600" y="1344168"/>
            <a:ext cx="274320" cy="201168"/>
          </a:xfrm>
          <a:prstGeom prst="downArrow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4709160" y="1572768"/>
            <a:ext cx="2743200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709160" y="157276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— port 8501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0" y="2167128"/>
            <a:ext cx="274320" cy="201168"/>
          </a:xfrm>
          <a:prstGeom prst="downArrow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4709160" y="2395728"/>
            <a:ext cx="2743200" cy="566928"/>
          </a:xfrm>
          <a:prstGeom prst="roundRect">
            <a:avLst>
              <a:gd name="adj" fmla="val 9677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709160" y="239572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 — port 8000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429000"/>
            <a:ext cx="2743200" cy="914400"/>
          </a:xfrm>
          <a:prstGeom prst="can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822960" y="3520440"/>
            <a:ext cx="274320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objet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(document brut)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0" y="3429000"/>
            <a:ext cx="2834640" cy="914400"/>
          </a:xfrm>
          <a:prstGeom prst="can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572000" y="3520440"/>
            <a:ext cx="283464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vectorielle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(embeddings)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412480" y="3429000"/>
            <a:ext cx="2834640" cy="91440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841248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qwen2.5:0.5b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(LLM local)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80760" y="2962656"/>
            <a:ext cx="0" cy="283464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2194560" y="3246120"/>
            <a:ext cx="38862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6080760" y="3246120"/>
            <a:ext cx="37490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2194560" y="3246120"/>
            <a:ext cx="0" cy="18288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6080760" y="3246120"/>
            <a:ext cx="0" cy="18288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9829800" y="3246120"/>
            <a:ext cx="0" cy="18288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3108960" y="45262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Versioning &amp; CI/CD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103120" y="4937760"/>
            <a:ext cx="2286000" cy="868680"/>
          </a:xfrm>
          <a:prstGeom prst="can">
            <a:avLst/>
          </a:prstGeom>
          <a:solidFill>
            <a:srgbClr val="5B5B5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2103120" y="5029200"/>
            <a:ext cx="228600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eval_cloud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(GitHub)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20640" y="4956048"/>
            <a:ext cx="2926080" cy="822960"/>
          </a:xfrm>
          <a:prstGeom prst="roundRect">
            <a:avLst>
              <a:gd name="adj" fmla="val 6667"/>
            </a:avLst>
          </a:prstGeom>
          <a:solidFill>
            <a:srgbClr val="B850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5120640" y="4956048"/>
            <a:ext cx="29260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(ci.yml)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434840" y="5285232"/>
            <a:ext cx="640080" cy="164592"/>
          </a:xfrm>
          <a:prstGeom prst="rightArrow">
            <a:avLst/>
          </a:prstGeom>
          <a:solidFill>
            <a:srgbClr val="19191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343400" y="54681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919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/ pull_request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8321040" y="5367528"/>
            <a:ext cx="1234440" cy="0"/>
          </a:xfrm>
          <a:prstGeom prst="line">
            <a:avLst/>
          </a:prstGeom>
          <a:noFill/>
          <a:ln w="15875">
            <a:solidFill>
              <a:srgbClr val="B85042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9555480" y="2679192"/>
            <a:ext cx="0" cy="2688336"/>
          </a:xfrm>
          <a:prstGeom prst="line">
            <a:avLst/>
          </a:prstGeom>
          <a:noFill/>
          <a:ln w="15875">
            <a:solidFill>
              <a:srgbClr val="B85042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7452360" y="2679192"/>
            <a:ext cx="2103120" cy="0"/>
          </a:xfrm>
          <a:prstGeom prst="line">
            <a:avLst/>
          </a:prstGeom>
          <a:noFill/>
          <a:ln w="15875">
            <a:solidFill>
              <a:srgbClr val="B85042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8732520" y="3749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et verifie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914400" y="59436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chaque push/PR : checkout du code (avec sous-modules), installation des dependances, tests unitaires, verification de l'import du backend.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Environnement : GitHub Codespaces · MinIO via Docker Compose · Chroma persiste sur disque · Ollama tourne en local (CPU)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technique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4850004"/>
              </p:ext>
            </p:extLst>
          </p:nvPr>
        </p:nvGraphicFramePr>
        <p:xfrm>
          <a:off x="548640" y="1097280"/>
          <a:ext cx="11064240" cy="5029200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92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Besoin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Environnement cloud de développement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 compose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 utilisateur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Streamlit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 API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FastAPI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Stockage du document brut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vectorielle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ChromaDB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 RAG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LangChain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Modèle d'embeddings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sentence-transformers · paraphrase-multilingual-MiniLM-L12-v2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local léger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Ollama · qwen2.5:0.5b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Automatisation CI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Versioning et remise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Indexation : découpage &amp; embeddings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383280" cy="365760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800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21945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chunk_size (caractères)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cible d'un passage. Fourchette conseillée : 700–900.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188720"/>
            <a:ext cx="3383280" cy="365760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251960" y="141732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251960" y="21945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chunk_overlap (caractères)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0" y="26974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Chevauchement entre deux passages, pour ne pas couper une idée. Fourchette conseillée : 100–150.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55280" y="1188720"/>
            <a:ext cx="3383280" cy="365760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7955280" y="141732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7955280" y="21945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top_k (passages)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75320" y="26974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 passages récupérés par question. Suffisant sans diluer le contexte du LLM léger.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10789920" cy="777240"/>
          </a:xfrm>
          <a:prstGeom prst="roundRect">
            <a:avLst>
              <a:gd name="adj" fmla="val 9412"/>
            </a:avLst>
          </a:prstGeom>
          <a:solidFill>
            <a:srgbClr val="F0F9FB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777240" y="5029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splitting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88920" y="5029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Couper en respectant paragraphes → phrases → mots (RecursiveCharacterTextSplitter)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366760" y="50292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Évite de couper au milieu d'une phrase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d'embeddings : sentence-transformers/paraphrase-multilingual-MiniLM-L12-v2 — léger (~470 Mo), multilingue, tourne sur CPU.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→ Réponse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prompt envoyé au LLM impose une consigne stricte : répondre uniquement à partir du contexte fourni.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766560" cy="4389120"/>
          </a:xfrm>
          <a:prstGeom prst="roundRect">
            <a:avLst>
              <a:gd name="adj" fmla="val 1667"/>
            </a:avLst>
          </a:prstGeom>
          <a:solidFill>
            <a:srgbClr val="1E293B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868680" y="1828800"/>
            <a:ext cx="6126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 es un assistant documentaire.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Réponds uniquement à partir du contexte fourni.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 l'information n'est pas présente dans le contexte, réponds :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 Je ne trouve pas cette information dans le document fourni. »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Contexte :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{context}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 :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{question}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Réponse 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89520" y="1600200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F0F9FB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86384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Étapes 3-4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863840" y="214884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question est transformée en embedding, puis comparée à tous les passages indexés pour retrouver les top_k plus proches.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589520" y="3794760"/>
            <a:ext cx="4023360" cy="2194560"/>
          </a:xfrm>
          <a:prstGeom prst="roundRect">
            <a:avLst>
              <a:gd name="adj" fmla="val 3333"/>
            </a:avLst>
          </a:prstGeom>
          <a:solidFill>
            <a:srgbClr val="FDF2F1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7863840" y="3977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Étapes 5-6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863840" y="434340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LLM (qwen2.5:0.5b) génère la réponse à partir du prompt. Les passages sources sont renvoyés avec leur score de similarité.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Démo : endpoints &amp; interface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2C5F2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2344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/health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520440" y="1234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 que l'API répond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801368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548640" y="180136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08760" y="180136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/upload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20440" y="18013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le document (MinIO ou repli local)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368296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48640" y="23682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08760" y="236829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/index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20440" y="23682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Découpe + vectorise + indexe dans Chroma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935224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48640" y="293522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08760" y="293522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20440" y="293522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+ génération + sources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502152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548640" y="350215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508760" y="350215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/reset-index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520440" y="35021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: vide l'index vectoriel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589520" y="1234440"/>
            <a:ext cx="4023360" cy="47091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7863840" y="14173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utilisateur (Streamlit)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863840" y="192024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7863840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21040" y="1892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Sélectionner ou charger un document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863840" y="2523744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7863840" y="2523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321040" y="24963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Cliquer sur « Indexer le document »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863840" y="3127248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7863840" y="3127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21040" y="309981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une question exemple ou en taper une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863840" y="3730752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7863840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321040" y="3703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la réponse générée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863840" y="4334256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7863840" y="4334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321040" y="430682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Déplier les sources (extrait + score)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&amp; Tests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3 — automatisation &amp; qualité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205740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/ Pull Request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615184" y="1929384"/>
            <a:ext cx="146304" cy="164592"/>
          </a:xfrm>
          <a:prstGeom prst="rightArrow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770632" y="155448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770632" y="1554480"/>
            <a:ext cx="205740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du code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(avec sous-modules)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37176" y="1929384"/>
            <a:ext cx="146304" cy="164592"/>
          </a:xfrm>
          <a:prstGeom prst="rightArrow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992624" y="155448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992624" y="1554480"/>
            <a:ext cx="205740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deps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(backend/requirements.txt)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59168" y="1929384"/>
            <a:ext cx="146304" cy="164592"/>
          </a:xfrm>
          <a:prstGeom prst="rightArrow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7214616" y="155448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7214616" y="1554480"/>
            <a:ext cx="205740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-v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281160" y="1929384"/>
            <a:ext cx="146304" cy="164592"/>
          </a:xfrm>
          <a:prstGeom prst="rightArrow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9436608" y="155448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9436608" y="1554480"/>
            <a:ext cx="205740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Vérif. import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backend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2834640"/>
            <a:ext cx="5303520" cy="3108960"/>
          </a:xfrm>
          <a:prstGeom prst="roundRect">
            <a:avLst>
              <a:gd name="adj" fmla="val 2353"/>
            </a:avLst>
          </a:prstGeom>
          <a:solidFill>
            <a:srgbClr val="F7F9FA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822960" y="3017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du backend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47472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tests unitaires vivent directement dans le sous-module backend (pytest.ini, tests/), maintenus par le développeur backend et exécutés via working-directory: backend dans la CI.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26480" y="2834640"/>
            <a:ext cx="5486400" cy="3108960"/>
          </a:xfrm>
          <a:prstGeom prst="roundRect">
            <a:avLst>
              <a:gd name="adj" fmla="val 2353"/>
            </a:avLst>
          </a:prstGeom>
          <a:solidFill>
            <a:srgbClr val="F0F9FB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640080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Sous-modules git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0" y="347472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backend/ et frontend/ sont des sous-modules git (dépôts séparés). La CI utilise submodules: recursive au checkout pour en récupérer le vrai contenu, sinon ces dossiers apparaissent vides.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connues &amp; bonus réalisés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394960" cy="4937760"/>
          </a:xfrm>
          <a:prstGeom prst="roundRect">
            <a:avLst>
              <a:gd name="adj" fmla="val 1481"/>
            </a:avLst>
          </a:prstGeom>
          <a:solidFill>
            <a:srgbClr val="FDF2F1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86868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acceptées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68680" y="2171700"/>
            <a:ext cx="91440" cy="91440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1097280" y="19659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parfois long (LLM léger, CPU)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68680" y="2793492"/>
            <a:ext cx="91440" cy="91440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1097280" y="258775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imparfaite du petit modèle (0.5b paramètres)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3415284"/>
            <a:ext cx="91440" cy="91440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1097280" y="320954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document à la fois dans la version de base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" y="4037076"/>
            <a:ext cx="91440" cy="91440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1097280" y="383133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authentification, pas de monitoring avancé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68680" y="4658868"/>
            <a:ext cx="91440" cy="91440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1097280" y="445312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déploiement production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63640" y="1243584"/>
            <a:ext cx="5394960" cy="4937760"/>
          </a:xfrm>
          <a:prstGeom prst="roundRect">
            <a:avLst>
              <a:gd name="adj" fmla="val 1481"/>
            </a:avLst>
          </a:prstGeom>
          <a:solidFill>
            <a:srgbClr val="F0FBF4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5379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implémentés</a:t>
            </a:r>
            <a:endParaRPr lang="en-US" sz="1600" dirty="0"/>
          </a:p>
        </p:txBody>
      </p: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1C14EDC7-FA76-649A-A0B8-B0330D2F5418}"/>
              </a:ext>
            </a:extLst>
          </p:cNvPr>
          <p:cNvGrpSpPr/>
          <p:nvPr/>
        </p:nvGrpSpPr>
        <p:grpSpPr>
          <a:xfrm>
            <a:off x="6629400" y="1832317"/>
            <a:ext cx="4892040" cy="502920"/>
            <a:chOff x="6629400" y="1832317"/>
            <a:chExt cx="4892040" cy="502920"/>
          </a:xfrm>
        </p:grpSpPr>
        <p:sp>
          <p:nvSpPr>
            <p:cNvPr id="19" name="Shape 17"/>
            <p:cNvSpPr/>
            <p:nvPr/>
          </p:nvSpPr>
          <p:spPr>
            <a:xfrm>
              <a:off x="6629400" y="2038057"/>
              <a:ext cx="91440" cy="91440"/>
            </a:xfrm>
            <a:prstGeom prst="ellipse">
              <a:avLst/>
            </a:prstGeom>
            <a:solidFill>
              <a:srgbClr val="2C5F2D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Text 18"/>
            <p:cNvSpPr/>
            <p:nvPr/>
          </p:nvSpPr>
          <p:spPr>
            <a:xfrm>
              <a:off x="6858000" y="1832317"/>
              <a:ext cx="466344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Bouton de réinitialisation de l'index vectoriel</a:t>
              </a:r>
              <a:endParaRPr lang="en-US" sz="1250" dirty="0"/>
            </a:p>
          </p:txBody>
        </p:sp>
      </p:grpSp>
      <p:grpSp>
        <p:nvGrpSpPr>
          <p:cNvPr id="29" name="Groupe 28">
            <a:extLst>
              <a:ext uri="{FF2B5EF4-FFF2-40B4-BE49-F238E27FC236}">
                <a16:creationId xmlns:a16="http://schemas.microsoft.com/office/drawing/2014/main" id="{CC9A9DA9-8278-C606-ABEC-3403FCC31DD6}"/>
              </a:ext>
            </a:extLst>
          </p:cNvPr>
          <p:cNvGrpSpPr/>
          <p:nvPr/>
        </p:nvGrpSpPr>
        <p:grpSpPr>
          <a:xfrm>
            <a:off x="6583680" y="2861719"/>
            <a:ext cx="4892040" cy="502920"/>
            <a:chOff x="6583680" y="2861719"/>
            <a:chExt cx="4892040" cy="502920"/>
          </a:xfrm>
        </p:grpSpPr>
        <p:sp>
          <p:nvSpPr>
            <p:cNvPr id="25" name="Shape 23"/>
            <p:cNvSpPr/>
            <p:nvPr/>
          </p:nvSpPr>
          <p:spPr>
            <a:xfrm>
              <a:off x="6583680" y="3067459"/>
              <a:ext cx="91440" cy="91440"/>
            </a:xfrm>
            <a:prstGeom prst="ellipse">
              <a:avLst/>
            </a:prstGeom>
            <a:solidFill>
              <a:srgbClr val="2C5F2D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Text 24"/>
            <p:cNvSpPr/>
            <p:nvPr/>
          </p:nvSpPr>
          <p:spPr>
            <a:xfrm>
              <a:off x="6812280" y="2861719"/>
              <a:ext cx="466344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Adaptation de la CI aux sous-modules git (submodules: recursive)</a:t>
              </a:r>
              <a:endParaRPr lang="en-US" sz="1250" dirty="0"/>
            </a:p>
          </p:txBody>
        </p:sp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2281984D-7EB4-3F76-9F22-E78CB6BA6BB7}"/>
              </a:ext>
            </a:extLst>
          </p:cNvPr>
          <p:cNvGrpSpPr/>
          <p:nvPr/>
        </p:nvGrpSpPr>
        <p:grpSpPr>
          <a:xfrm>
            <a:off x="6583680" y="2344908"/>
            <a:ext cx="4846320" cy="502920"/>
            <a:chOff x="6583680" y="2344908"/>
            <a:chExt cx="4846320" cy="502920"/>
          </a:xfrm>
        </p:grpSpPr>
        <p:sp>
          <p:nvSpPr>
            <p:cNvPr id="23" name="Shape 21"/>
            <p:cNvSpPr/>
            <p:nvPr/>
          </p:nvSpPr>
          <p:spPr>
            <a:xfrm>
              <a:off x="6583680" y="2550648"/>
              <a:ext cx="91440" cy="91440"/>
            </a:xfrm>
            <a:prstGeom prst="ellipse">
              <a:avLst/>
            </a:prstGeom>
            <a:solidFill>
              <a:srgbClr val="2C5F2D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Text 22"/>
            <p:cNvSpPr/>
            <p:nvPr/>
          </p:nvSpPr>
          <p:spPr>
            <a:xfrm>
              <a:off x="6766560" y="2344908"/>
              <a:ext cx="466344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Score de similarité affiché pour chaque source</a:t>
              </a:r>
              <a:endParaRPr lang="en-US" sz="1250" dirty="0"/>
            </a:p>
          </p:txBody>
        </p:sp>
      </p:grp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25D8AB05-78FB-F3F5-76ED-8DDFF558D0A3}"/>
              </a:ext>
            </a:extLst>
          </p:cNvPr>
          <p:cNvGrpSpPr/>
          <p:nvPr/>
        </p:nvGrpSpPr>
        <p:grpSpPr>
          <a:xfrm>
            <a:off x="6583680" y="3276717"/>
            <a:ext cx="4892040" cy="502920"/>
            <a:chOff x="6583680" y="2861719"/>
            <a:chExt cx="4892040" cy="502920"/>
          </a:xfrm>
        </p:grpSpPr>
        <p:sp>
          <p:nvSpPr>
            <p:cNvPr id="31" name="Shape 23">
              <a:extLst>
                <a:ext uri="{FF2B5EF4-FFF2-40B4-BE49-F238E27FC236}">
                  <a16:creationId xmlns:a16="http://schemas.microsoft.com/office/drawing/2014/main" id="{1438436C-42ED-1FC2-FA57-5DDF669052F2}"/>
                </a:ext>
              </a:extLst>
            </p:cNvPr>
            <p:cNvSpPr/>
            <p:nvPr/>
          </p:nvSpPr>
          <p:spPr>
            <a:xfrm>
              <a:off x="6583680" y="3067459"/>
              <a:ext cx="91440" cy="91440"/>
            </a:xfrm>
            <a:prstGeom prst="ellipse">
              <a:avLst/>
            </a:prstGeom>
            <a:solidFill>
              <a:srgbClr val="2C5F2D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Text 24">
              <a:extLst>
                <a:ext uri="{FF2B5EF4-FFF2-40B4-BE49-F238E27FC236}">
                  <a16:creationId xmlns:a16="http://schemas.microsoft.com/office/drawing/2014/main" id="{E4E47C96-C00C-1C6B-5B45-B4A49F72946F}"/>
                </a:ext>
              </a:extLst>
            </p:cNvPr>
            <p:cNvSpPr/>
            <p:nvPr/>
          </p:nvSpPr>
          <p:spPr>
            <a:xfrm>
              <a:off x="6812280" y="2861719"/>
              <a:ext cx="466344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Choix de </a:t>
              </a:r>
              <a:r>
                <a:rPr lang="en-US" sz="1250" dirty="0" err="1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différents</a:t>
              </a:r>
              <a:r>
                <a:rPr lang="en-US" sz="125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250" dirty="0" err="1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modeles</a:t>
              </a:r>
              <a:endParaRPr lang="en-US" sz="1250" dirty="0"/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2012FA5B-0E36-EC0D-8E3F-63AFA3E2011F}"/>
              </a:ext>
            </a:extLst>
          </p:cNvPr>
          <p:cNvGrpSpPr/>
          <p:nvPr/>
        </p:nvGrpSpPr>
        <p:grpSpPr>
          <a:xfrm>
            <a:off x="6583680" y="3699102"/>
            <a:ext cx="4892040" cy="502920"/>
            <a:chOff x="6583680" y="2861719"/>
            <a:chExt cx="4892040" cy="502920"/>
          </a:xfrm>
        </p:grpSpPr>
        <p:sp>
          <p:nvSpPr>
            <p:cNvPr id="34" name="Shape 23">
              <a:extLst>
                <a:ext uri="{FF2B5EF4-FFF2-40B4-BE49-F238E27FC236}">
                  <a16:creationId xmlns:a16="http://schemas.microsoft.com/office/drawing/2014/main" id="{E712F487-E986-06CB-BAA9-198A2C7DDC71}"/>
                </a:ext>
              </a:extLst>
            </p:cNvPr>
            <p:cNvSpPr/>
            <p:nvPr/>
          </p:nvSpPr>
          <p:spPr>
            <a:xfrm>
              <a:off x="6583680" y="3067459"/>
              <a:ext cx="91440" cy="91440"/>
            </a:xfrm>
            <a:prstGeom prst="ellipse">
              <a:avLst/>
            </a:prstGeom>
            <a:solidFill>
              <a:srgbClr val="2C5F2D"/>
            </a:solidFill>
            <a:ln/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Text 24">
              <a:extLst>
                <a:ext uri="{FF2B5EF4-FFF2-40B4-BE49-F238E27FC236}">
                  <a16:creationId xmlns:a16="http://schemas.microsoft.com/office/drawing/2014/main" id="{B822D272-2A8F-CC90-2EFF-10C67D1BBBBB}"/>
                </a:ext>
              </a:extLst>
            </p:cNvPr>
            <p:cNvSpPr/>
            <p:nvPr/>
          </p:nvSpPr>
          <p:spPr>
            <a:xfrm>
              <a:off x="6812280" y="2861719"/>
              <a:ext cx="466344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50" dirty="0" err="1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Différents</a:t>
              </a:r>
              <a:r>
                <a:rPr lang="en-US" sz="125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250" dirty="0" err="1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méthodes</a:t>
              </a:r>
              <a:r>
                <a:rPr lang="en-US" sz="1250" dirty="0">
                  <a:solidFill>
                    <a:srgbClr val="33415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de “chunking”</a:t>
              </a:r>
              <a:endParaRPr lang="en-US" sz="125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65A82">
              <a:alpha val="4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9875520" y="4114800"/>
            <a:ext cx="4114800" cy="41148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F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principe RAG en une phrase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L'assistant répond à partir du document. S'il ne trouve pas l'information, il le dit clairement. »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51206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— questions 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937</Words>
  <Application>Microsoft Office PowerPoint</Application>
  <PresentationFormat>Grand écran</PresentationFormat>
  <Paragraphs>189</Paragraphs>
  <Slides>11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Assistant documentaire - Lite RAG</dc:title>
  <dc:subject>PptxGenJS Presentation</dc:subject>
  <dc:creator>École Hexagone</dc:creator>
  <cp:lastModifiedBy>Nicolas MOUTON--BESSON</cp:lastModifiedBy>
  <cp:revision>1</cp:revision>
  <dcterms:created xsi:type="dcterms:W3CDTF">2026-07-03T13:12:15Z</dcterms:created>
  <dcterms:modified xsi:type="dcterms:W3CDTF">2026-07-03T14:10:47Z</dcterms:modified>
</cp:coreProperties>
</file>